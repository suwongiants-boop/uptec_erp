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제공한 사업·개발 사실을 기반으로 구성했습니다. 제품별 상세 기능과 도입 방식은 가치 제안이며, 검증된 성능 수치나 납품 실적을 의미하지 않습니다.</a:t>
            </a:r>
          </a:p>
          <a:p/>
          <a:p>
            <a:r>
              <a:t>핵심 메시지: UPTEC  |  업텍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보유 역량과 개발 제품은 사용자 설명에 근거합니다. 제품별 상용화 단계와 현장 적용 범위는 별도 확인 대상입니다.</a:t>
            </a:r>
          </a:p>
          <a:p/>
          <a:p>
            <a:r>
              <a:t>핵심 메시지: 도메인 지식 × 자체 개발 기술 × AI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문제에 대한 정성적 분석입니다. 시장 규모나 수요 증가율에 관한 통계 주장은 포함하지 않습니다.</a:t>
            </a:r>
          </a:p>
          <a:p/>
          <a:p>
            <a:r>
              <a:t>핵심 메시지: 공통 수요: 현장 데이터 → 의미 해석 → 의사결정 →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기회는 사업 방향에 대한 분석입니다. 시장 규모·점유율·성장률 및 특정 고객의 구매 의향을 주장하지 않습니다.</a:t>
            </a:r>
          </a:p>
          <a:p/>
          <a:p>
            <a:r>
              <a:t>핵심 메시지: 진입 시장은 다르지만, 데이터의 해석과 운영 적용이라는 과제는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공통 기술 구조에 대한 설명입니다. 모든 제품이 하나의 상용 플랫폼으로 통합되었다는 의미는 아닙니다.</a:t>
            </a:r>
          </a:p>
          <a:p/>
          <a:p>
            <a:r>
              <a:t>핵심 메시지: 각 사업의 도메인 지식을 유지하면서 공통 기술을 재사용하는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가치는 기대 효과입니다. 제어 응답시간·효율·안정도 등 제품별 검증 수치는 제공되지 않아 제시하지 않았습니다. 적용 범위와 안전 조건은 현장별 검증이 필요합니다.</a:t>
            </a:r>
          </a:p>
          <a:p/>
          <a:p>
            <a:r>
              <a:t>핵심 메시지: AI의 제안이 설비의 제약과 안전 조건을 만족하도록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적용 방향의 개념도입니다. 특정 모델의 학습 완료, 실시간 예측 기능, 자동 제어 기능이 제품 전체에 구현되었다는 주장이 아닙니다.</a:t>
            </a:r>
          </a:p>
          <a:p/>
          <a:p>
            <a:r>
              <a:t>핵심 메시지: 적용 원칙: 데이터 품질 · 설명 가능한 근거 · 현장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성능평가를 주력으로 수행한다는 사용자 설명에 근거합니다. 흐름은 제안하는 일반 수행 구조이며, 계약별 시험 범위·방법·산출물은 별도 협의가 필요합니다.</a:t>
            </a:r>
          </a:p>
          <a:p/>
          <a:p>
            <a:r>
              <a:t>핵심 메시지: 성능평가를 고객 현장 이해와 후속 개선의 출발점으로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권장 산출물과 기대 가치입니다. 공인 시험기관 자격, 특정 인증 획득, 발전량 증가나 손실 감소 실적을 주장하지 않습니다.</a:t>
            </a:r>
          </a:p>
          <a:p/>
          <a:p>
            <a:r>
              <a:t>핵심 메시지: 고객 가치: 개선 과제의 구체화와 설비 선택의 근거 확보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전력 설비 공급 사업은 사용자 설명에 근거합니다. 특정 장비의 자체 제조 여부나 보유 제품군은 확인되지 않아 명시하지 않았습니다. 단계별 범위는 계약에 따라 달라집니다.</a:t>
            </a:r>
          </a:p>
          <a:p/>
          <a:p>
            <a:r>
              <a:t>핵심 메시지: 평가 → 요구사양 → 공급 → 검증으로 이어지는 고객 접점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지표는 향후 검증에 사용할 예시이며 측정된 성과가 아닙니다. 절감률, 수익률, 발전량 개선율을 임의로 기재하지 않았습니다.</a:t>
            </a:r>
          </a:p>
          <a:p/>
          <a:p>
            <a:r>
              <a:t>핵심 메시지: 기대 효과는 현장별 기준선과 적용 전후 데이터로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DFOS와 소프트웨어 자체 개발은 사용자 설명에 근거합니다. 감지 물리량, 센서 방식, 거리, 공간 분해능, 정확도 및 위치 추정 성능은 미확인으로 명시하지 않았습니다. 도식은 응용 개념입니다.</a:t>
            </a:r>
          </a:p>
          <a:p/>
          <a:p>
            <a:r>
              <a:t>핵심 메시지: DFOS: Distributed Fiber Optic Sensing · 광섬유 분포형 센싱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시스템 개발 사실은 사용자 설명에 근거합니다. 적용 후보는 목표 시장이며 도입 실적이 아닙니다. 오경보 감소, 탐지 성능, 감시 거리 등은 현장 시험으로 확인해야 하는 기대 효과입니다.</a:t>
            </a:r>
          </a:p>
          <a:p/>
          <a:p>
            <a:r>
              <a:t>핵심 메시지: 적용 후보: 중요 시설 · 에너지 인프라 · 군 경계 구역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보급관제 개발 사실은 사용자 설명에 근거합니다. 군수 보급 운영 관제로 해석했습니다. 단계별 기능은 활용 개념으로, 실제 구현 범위·연동 체계·정보등급별 운용 조건을 확인해야 합니다.</a:t>
            </a:r>
          </a:p>
          <a:p/>
          <a:p>
            <a:r>
              <a:t>핵심 메시지: 기대 가치: 보급 가시성 향상과 담당자의 의사결정 지원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전술시뮬레이터 개발 사실은 사용자 설명에 근거합니다. 구체적 전술 모델·AI 방식·정확도·실군 연동 범위는 확인되지 않았습니다. 도식은 활용 개념이며 실전 효과를 보장하지 않습니다.</a:t>
            </a:r>
          </a:p>
          <a:p/>
          <a:p>
            <a:r>
              <a:t>핵심 메시지: 기대 가치: 실제 자원 투입 전 대안 검토와 훈련의 반복 가능성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자산화 전략의 개념 구조입니다. 공통 플랫폼 구축 완료 또는 모든 계층의 현재 구현을 주장하지 않습니다. 정보보안·접근통제·망 환경은 도입 시 별도 검토가 필요합니다.</a:t>
            </a:r>
          </a:p>
          <a:p/>
          <a:p>
            <a:r>
              <a:t>핵심 메시지: 확장 방향: 공통 구성요소를 재사용하고 현장 요구는 제품별로 반영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시너지 방향에 대한 분석입니다. 도메인이 다른 데이터를 무조건 통합하거나 보안 경계를 넘어 재사용한다는 의미는 아닙니다. 실제 재사용률이나 개발기간 단축 수치는 확인되지 않았습니다.</a:t>
            </a:r>
          </a:p>
          <a:p/>
          <a:p>
            <a:r>
              <a:t>핵심 메시지: 기대 가치: 개발 자산 축적, 요구 대응력 향상, 검증 경험의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정성적 포지셔닝이며 특정 경쟁사와의 시험 비교 또는 업계 우위의 입증이 아닙니다. 자체 개발의 범위와 지식재산 현황은 별도 자료로 확인해야 합니다.</a:t>
            </a:r>
          </a:p>
          <a:p/>
          <a:p>
            <a:r>
              <a:t>핵심 메시지: 차별화의 입증은 현장 검증과 고객 적용 사례의 축적에서 완성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고객군은 목표 시장입니다. 특정 기관과의 계약, 협약, 납품 또는 조달 자격을 암시하지 않습니다. 도입에는 고객별 절차와 보안 요구 검토가 필요합니다.</a:t>
            </a:r>
          </a:p>
          <a:p/>
          <a:p>
            <a:r>
              <a:t>핵심 메시지: 표적 고객과 도입 경로에 대한 제안이며, 확보 고객 명단이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성능평가·설비 공급 외의 계약 방식과 운영 지원은 확장 전략입니다. 라이선스·구독·유지보수 계약 체결이나 반복 계약의 확보를 주장하지 않습니다.</a:t>
            </a:r>
          </a:p>
          <a:p/>
          <a:p>
            <a:r>
              <a:t>핵심 메시지: 사업의 연결 고리: 현장 이해 → 적용 → 검증 → 후속 개선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진입 실행안입니다. 이미 완료된 단계나 확정 일정이 아닙니다. 제품별 검증과 조달·보안 절차를 충족해야 확대할 수 있습니다.</a:t>
            </a:r>
          </a:p>
          <a:p/>
          <a:p>
            <a:r>
              <a:t>핵심 메시지: 진입 원칙: 과제의 명확성 · 데이터 접근성 · 성과 측정 가능성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향후 개발·검증 계획 제안입니다. 제품 개발 자체는 사용자 설명에 근거하지만 제품별 성숙도, 인증 현황, 출시 일정은 별도로 확인해야 합니다.</a:t>
            </a:r>
          </a:p>
          <a:p/>
          <a:p>
            <a:r>
              <a:t>핵심 메시지: 제안 로드맵: 기능 추가보다 검증 근거와 적용 재현성의 축적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투자 검토용 확인 목록입니다. 관련 보고서·인증·특허가 현재 확보되었다는 의미는 아닙니다. 실제 외부 제출 전 공개 가능한 자료와 주장 범위를 대조해야 합니다.</a:t>
            </a:r>
          </a:p>
          <a:p/>
          <a:p>
            <a:r>
              <a:t>핵심 메시지: 제공받지 않은 실적·인증·특허·성능 수치는 기재하지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투자 논리는 전문 기술, 주력 사업과 응용 확장의 결합입니다. 기대 효과의 실현 여부는 제품별 기능과 현장 검증에 달려 있습니다.</a:t>
            </a:r>
          </a:p>
          <a:p/>
          <a:p>
            <a:r>
              <a:t>핵심 메시지: UPTEC  |  현장에 맞는 기술, 판단에 도움이 되는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C7EE78"/>
                </a:solidFill>
                <a:latin typeface="Noto Sans CJK KR"/>
              </a:defRPr>
            </a:pPr>
            <a:r>
              <a:t>INVESTOR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31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9EB5C3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9EB5C3"/>
                </a:solidFill>
                <a:latin typeface="Noto Sans CJK KR"/>
              </a:defRPr>
            </a:pPr>
            <a:r>
              <a:t>01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508760"/>
            <a:ext cx="32004" cy="3474720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67344" y="1627631"/>
            <a:ext cx="32004" cy="329183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05088" y="1746504"/>
            <a:ext cx="32004" cy="3108960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42832" y="1865376"/>
            <a:ext cx="32004" cy="292607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80576" y="1984248"/>
            <a:ext cx="32004" cy="2743200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2103120"/>
            <a:ext cx="32004" cy="2560320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56064" y="2221991"/>
            <a:ext cx="32004" cy="237743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93808" y="2340864"/>
            <a:ext cx="32004" cy="219455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31552" y="2459736"/>
            <a:ext cx="32004" cy="201167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69296" y="2578608"/>
            <a:ext cx="32004" cy="182879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07040" y="2697480"/>
            <a:ext cx="32004" cy="1645919"/>
          </a:xfrm>
          <a:prstGeom prst="rect">
            <a:avLst/>
          </a:prstGeom>
          <a:solidFill>
            <a:srgbClr val="256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107899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3700" b="1">
                <a:solidFill>
                  <a:srgbClr val="FFFFFF"/>
                </a:solidFill>
                <a:latin typeface="Noto Sans CJK KR"/>
              </a:defRPr>
            </a:pPr>
            <a:r>
              <a:t>현장을 이해하는 제어 기술,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3700" b="1">
                <a:solidFill>
                  <a:srgbClr val="FFFFFF"/>
                </a:solidFill>
                <a:latin typeface="Noto Sans CJK KR"/>
              </a:defRPr>
            </a:pPr>
            <a:r>
              <a:t>AI로 지능을 더하다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3832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0">
                <a:solidFill>
                  <a:srgbClr val="BBD1DC"/>
                </a:solidFill>
                <a:latin typeface="Noto Sans CJK KR"/>
              </a:defRPr>
            </a:pPr>
            <a:r>
              <a:t>전력전자 제어 · 신재생발전단지 성능평가 · DFOS · 지능형 소프트웨어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" y="4800600"/>
            <a:ext cx="3749039" cy="64008"/>
          </a:xfrm>
          <a:prstGeom prst="rect">
            <a:avLst/>
          </a:prstGeom>
          <a:solidFill>
            <a:srgbClr val="C7E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51206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UPTEC  |  업텍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01 / COMPANY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업텍의 가치는 현장과 AI의 연결에 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전력전자 제어 전문성을 바탕으로 에너지와 안전·국방의 운영 문제를 해결합니다.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전력전자 제어 전문성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전력 설비의 동작과 현장 제약을 이해하는 기술 기반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AI를 활용한 제어·진단 고도화에 집중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성능평가 중심의 사업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신재생발전단지 성능평가를 주력으로 수행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평가 결과와 현장에 맞는 전력 설비 공급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자체 개발 기술의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자체 DFOS·소프트웨어에 AI 접목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경계·보급관제·전술시뮬레이터 개발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도메인 지식 × 자체 개발 기술 × AI 응용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02 / CUSTOMER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복잡해지는 현장에는 판단과 실행이 필요합니다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고객의 과제는 데이터를 수집하는 데서 끝나지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발전단지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출력 변동과 설비 상태를 함께 해석해야 합니다.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성능 저하의 원인과 개선 우선순위가 필요합니다.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시설 경계·안전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넓은 감시 구간에서 이벤트를 놓치지 않아야 합니다.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경보를 실제 대응으로 연결할 기준이 필요합니다.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국방 운영·훈련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자원·상황·제약을 함께 고려해야 합니다.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대안 비교와 반복 훈련을 지원할 도구가 필요합니다.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공통 수요: 현장 데이터 → 의미 해석 → 의사결정 → 실행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03 /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서로 다른 시장에 공통된 기술 수요가 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업텍이 겨냥하는 기회는 설비·센서·운영 소프트웨어 사이의 연결입니다.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시장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고객이 필요로 하는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업텍의 제안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신재생 발전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성능 원인 분석과 현장 개선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성능평가 + 전력전자 제어 + 설비 공급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중요 시설 경계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연속 감시와 대응 우선순위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자체 DFOS + AI 경계시스템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보급 운영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자원 현황과 조치의 연결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AI 보급관제 소프트웨어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전술 훈련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가정별 결과 비교와 학습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AI 전술시뮬레이터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진입 시장은 다르지만, 데이터의 해석과 운영 적용이라는 과제는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04 / CORE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측정에서 개선까지 이어지는 기술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제어 전문성, 센싱, 소프트웨어를 AI 응용으로 연결합니다.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현장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설비 특성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운영 제약·목표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데이터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성능평가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DFOS·운영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AI 해석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상태 진단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이벤트·대안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현장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제어·설비 개선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관제·훈련 지원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각 사업의 도메인 지식을 유지하면서 공통 기술을 재사용하는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05 / POWER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전력전자 제어가 AI 적용의 기준을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실제 설비의 동작 조건을 이해해야 현장에서 쓸 수 있는 AI를 설계할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5449824" cy="2898648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61518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200" b="1">
                <a:solidFill>
                  <a:srgbClr val="C7EE78"/>
                </a:solidFill>
                <a:latin typeface="Noto Sans CJK KR"/>
              </a:defRPr>
            </a:pPr>
            <a:r>
              <a:t>기술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410712"/>
            <a:ext cx="482803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전력전자 제어 기술에 특화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설비 동특성과 운전 조건에 대한 이해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AI를 활용한 제어·진단 기술에 집중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331720"/>
            <a:ext cx="544982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61518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200" b="1">
                <a:solidFill>
                  <a:srgbClr val="007F7B"/>
                </a:solidFill>
                <a:latin typeface="Noto Sans CJK KR"/>
              </a:defRPr>
            </a:pPr>
            <a:r>
              <a:t>고객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3410712"/>
            <a:ext cx="482803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현장 조건을 고려한 개선 방향 제시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알고리즘과 실제 설비 사이의 간극 축소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운전 안정성과 성능 개선의 균형 추구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AI의 제안이 설비의 제약과 안전 조건을 만족하도록 설계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06 / AI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AI는 진단·예측·운영 판단의 고도화 수단입니다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물리적 제약과 운영 목표를 함께 고려하는 적용 방향을 지향합니다.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입력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측정 품질 확인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조건·이력 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상태 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정상 패턴 비교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이상 징후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대안 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원인 후보 정리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조치 우선순위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효과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적용 전후 비교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전문가 검토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적용 원칙: 데이터 품질 · 설명 가능한 근거 · 현장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07 / PRIMARY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주력 사업은 신재생발전단지 성능평가입니다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평가를 통해 발전단지의 상태를 이해하고, 개선 의사결정을 지원합니다.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범위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평가 목적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대상 설비·조건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데이터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운전·계측 정보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비교 기준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원인 검토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성능 차이 분석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개선 후보 도출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개선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설비·제어 제안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후속 검증 계획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성능평가를 고객 현장 이해와 후속 개선의 출발점으로 활용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08 / ASSESSMENT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09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좋은 평가는 다음 행동을 명확하게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단순 현황 보고를 넘어 원인·우선순위·검증 기준을 정리합니다.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평가 관점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제안 산출물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고객의 의사결정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운전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조건별 성능 비교와 기준선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어떤 조건에서 차이가 발생하는가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설비·제어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원인 후보와 영향 항목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어떤 설비나 설정부터 검토할 것인가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개선 대안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기술 적합성과 적용 조건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무엇을 어떤 순서로 개선할 것인가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개선 후 검증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전후 비교와 잔여 과제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개선 효과를 어떻게 판단할 것인가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고객 가치: 개선 과제의 구체화와 설비 선택의 근거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09 / EQUIPMENT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평가 결과에 맞는 전력 설비를 공급합니다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고객 현장에 대한 이해를 설비 선정과 공급의 적합성으로 연결합니다.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요구 도출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평가 결과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운전·현장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적합성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정격·인터페이스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설치·운영 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설비 공급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현장에 맞는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전력 설비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검증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적용 조건 확인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후속 성능 검토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평가 → 요구사양 → 공급 → 검증으로 이어지는 고객 접점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10 / ENERGY 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고객은 평가와 개선의 연결에서 가치를 얻습니다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기술적 문제를 설비·제어·운영의 언어로 함께 설명합니다.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고객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제공 가치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확인할 지표 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성능 차이의 원인 파악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측정 정보와 설비 특성의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조건별 편차·원인 검증 여부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개선 대상 선정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기술 적합성에 따른 우선순위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조치 실행 여부·전후 성능 차이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설비 도입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현장 요구와 공급 사양의 정합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요구사양 충족·인터페이스 적합성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운영 신뢰도 확보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평가와 후속 검증의 연속성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측정 재현성·재발 이슈 추적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기대 효과는 현장별 기준선과 적용 전후 데이터로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11 / PROPRIETARY DFOS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자체 DFOS와 소프트웨어가 응용의 기반입니다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광섬유 분포형 센싱 기술을 AI 응용과 연결합니다.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광섬유 센싱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구간의 물리적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변화 정보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신호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신호 정리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특징 추출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AI 해석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패턴 분석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이벤트 판단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운영 소프트웨어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시각화·관제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대응 흐름 연결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DFOS: Distributed Fiber Optic Sensing · 광섬유 분포형 센싱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12 / INTELLIGENT PERIMETER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차세대 지능형 경계시스템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DFOS의 현장 신호를 상황 인식과 대응 지원으로 연결합니다.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5449824" cy="2898648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61518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200" b="1">
                <a:solidFill>
                  <a:srgbClr val="C7EE78"/>
                </a:solidFill>
                <a:latin typeface="Noto Sans CJK KR"/>
              </a:defRPr>
            </a:pPr>
            <a:r>
              <a:t>시장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410712"/>
            <a:ext cx="482803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광섬유 기반의 구간 감시 접근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자체 센싱·소프트웨어의 연계 가능성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현장 특성을 반영한 AI 분석의 확장성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331720"/>
            <a:ext cx="544982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61518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200" b="1">
                <a:solidFill>
                  <a:srgbClr val="007F7B"/>
                </a:solidFill>
                <a:latin typeface="Noto Sans CJK KR"/>
              </a:defRPr>
            </a:pPr>
            <a:r>
              <a:t>고객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3410712"/>
            <a:ext cx="482803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넓은 경계 구간의 상황 파악 지원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이벤트 확인과 대응 우선순위 지원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900" b="0">
                <a:solidFill>
                  <a:srgbClr val="172F40"/>
                </a:solidFill>
                <a:latin typeface="Noto Sans CJK KR"/>
              </a:defRPr>
            </a:pPr>
            <a:r>
              <a:t>관제 인력의 판단 부담 완화 추구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적용 후보: 중요 시설 · 에너지 인프라 · 군 경계 구역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13 / AI SUPPLY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AI 보급관제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보급 현황을 파악하고 자원 배분과 조치의 우선순위를 지원합니다.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현황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품목·재고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요청·가용 자원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상황 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부족·지연 요인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제약 조건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판단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배분 대안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처리 우선순위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조치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처리 상태 확인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운영 결과 반영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기대 가치: 보급 가시성 향상과 담당자의 의사결정 지원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14 / AI TACTICAL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AI 전술시뮬레이터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가상 환경에서 대안을 비교하고 반복 훈련을 지원합니다.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시나리오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환경·임무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가용 자원·제약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대안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조건별 행동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가정별 시뮬레이션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결과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목표 달성도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자원·위험 검토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학습·개선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사후 분석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반복 훈련 설계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기대 가치: 실제 자원 투입 전 대안 검토와 훈련의 반복 가능성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15 / SOFTWARE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제품별 도메인과 공통 소프트웨어를 함께 축적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경계·보급·훈련의 요구는 다르지만, 데이터와 판단을 연결하는 구조는 공유할 수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67712"/>
            <a:ext cx="2057400" cy="594360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2267712"/>
            <a:ext cx="903427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KR"/>
              </a:defRPr>
            </a:pPr>
            <a:r>
              <a:t>응용 계층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04872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0">
                <a:solidFill>
                  <a:srgbClr val="172F40"/>
                </a:solidFill>
                <a:latin typeface="Noto Sans CJK KR"/>
              </a:defRPr>
            </a:pPr>
            <a:r>
              <a:t>지능형 경계  /  AI 보급관제  /  AI 전술시뮬레이터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999232"/>
            <a:ext cx="2057400" cy="594360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2999232"/>
            <a:ext cx="903427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363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KR"/>
              </a:defRPr>
            </a:pPr>
            <a:r>
              <a:t>판단 계층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36392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0">
                <a:solidFill>
                  <a:srgbClr val="172F40"/>
                </a:solidFill>
                <a:latin typeface="Noto Sans CJK KR"/>
              </a:defRPr>
            </a:pPr>
            <a:r>
              <a:t>이벤트 해석  /  우선순위  /  대안 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30752"/>
            <a:ext cx="2057400" cy="594360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3730752"/>
            <a:ext cx="903427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679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KR"/>
              </a:defRPr>
            </a:pPr>
            <a:r>
              <a:t>소프트웨어 계층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867912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0">
                <a:solidFill>
                  <a:srgbClr val="172F40"/>
                </a:solidFill>
                <a:latin typeface="Noto Sans CJK KR"/>
              </a:defRPr>
            </a:pPr>
            <a:r>
              <a:t>데이터 연계  /  화면·워크플로  /  이력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462272"/>
            <a:ext cx="2057400" cy="594360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4462272"/>
            <a:ext cx="903427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5994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KR"/>
              </a:defRPr>
            </a:pPr>
            <a:r>
              <a:t>현장 계층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599432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0">
                <a:solidFill>
                  <a:srgbClr val="172F40"/>
                </a:solidFill>
                <a:latin typeface="Noto Sans CJK KR"/>
              </a:defRPr>
            </a:pPr>
            <a:r>
              <a:t>DFOS 신호  /  운영 데이터  /  시나리오 정보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확장 방향: 공통 구성요소를 재사용하고 현장 요구는 제품별로 반영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16 / PORTFOLIO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사업 간 연결은 기술 재사용에서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에너지와 안전·국방의 차이를 존중하면서 검증 방법과 소프트웨어 자산을 축적합니다.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전력 분야 → AI 응용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운전 조건과 물리적 제약을 다루는 경험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현장 검증 중심의 개발 관점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DFOS → 지능형 경계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자체 센싱 기술과 신호 해석의 연결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현장 이벤트를 운영 정보로 전환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소프트웨어 → 제품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데이터 연계와 시각화 구성의 재사용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제품별 업무 흐름과 AI 적용 확장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기대 가치: 개발 자산 축적, 요구 대응력 향상, 검증 경험의 재사용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17 /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업텍의 차별화 논리는 연결성과 현장 적합성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개별 기술의 보유를 넘어 고객 문제를 해결하는 조합을 제시합니다.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비교 관점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분절된 도입의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업텍이 제안하는 방향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평가와 공급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분석 결과가 설비 요구에 전달되기 어려움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성능평가 결과를 공급 적합성에 연결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AI와 현장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운영 제약이 모델에 충분히 반영되지 않음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전력전자 제어·현장 지식과 AI 결합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센싱과 관제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탐지 정보가 대응 업무와 분리됨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자체 DFOS와 운영 소프트웨어 연결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단일 구축과 확장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현장별 기능을 매번 새로 개발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공통 자산과 현장별 구성을 병행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차별화의 입증은 현장 검증과 고객 적용 사례의 축적에서 완성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18 / TARGET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문제가 명확한 고객부터 시장에 접근합니다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현장 필요와 검증 가능성을 기준으로 우선 적용 대상을 선정합니다.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에너지 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발전사업자·발전단지 운영사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성능평가와 개선 과제가 있는 현장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접점: 평가 과업과 설비 요구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경계·인프라 고객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중요 시설·에너지 인프라 운영 주체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구간 감시와 관제 연계가 필요한 현장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접점: 제한 구간 검증과 연동 협의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국방·훈련 고객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보급 운영·교육훈련 관련 조직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관제·모의훈련 과제가 있는 부서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접점: 시범 적용과 사용자 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표적 고객과 도입 경로에 대한 제안이며, 확보 고객 명단이 아닙니다.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19 /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현장 과업에서 장기 기술 관계로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현재 사업 기반과 향후 서비스 확장 방향을 구분합니다.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사업 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고객에게 제공하는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협업 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현재 사업 / 성능평가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현장 상태 분석과 개선 판단의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평가 과업의 범위·산출물 합의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현재 사업 / 설비 공급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요구 조건에 맞는 전력 설비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사양·공급·검증 범위 합의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확장 방향 / AI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경계·관제·시뮬레이션 응용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현장 검증 후 구축·연동 범위 협의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확장 방향 / 운영 지원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모델·소프트웨어의 개선과 유지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지원 수준·업데이트 조건 협의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사업의 연결 고리: 현장 이해 → 적용 → 검증 → 후속 개선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20 /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검증 가능한 성과를 단계적으로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주력 사업의 고객 이해를 활용하되, 새로운 응용은 별도의 검증 관문을 둡니다.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01 문제 합의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대상 현장 선정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성공 기준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02 제한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기준선 확보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사용자 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03 현장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요구 기능 조정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연동·수용성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47472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487168"/>
            <a:ext cx="2633472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487168"/>
            <a:ext cx="2633472" cy="64008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752344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1">
                <a:solidFill>
                  <a:srgbClr val="007F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310128"/>
            <a:ext cx="22219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172F40"/>
                </a:solidFill>
                <a:latin typeface="Noto Sans CJK KR"/>
              </a:defRPr>
            </a:pPr>
            <a:r>
              <a:t>04 적용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96849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검증 결과 정리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536777"/>
                </a:solidFill>
                <a:latin typeface="Noto Sans CJK KR"/>
              </a:defRPr>
            </a:pPr>
            <a:r>
              <a:t>유사 현장 전개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진입 원칙: 과제의 명확성 · 데이터 접근성 · 성과 측정 가능성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21 /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기술 성숙도와 고객 검증을 함께 높입니다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일정 확약 대신, 다음 단계로 넘어갈 판단 기준을 제시합니다.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기반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제품별 현재 구현 범위 문서화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데이터·시험 환경과 기준선 정리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관문: 재현 가능한 내부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현장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대표 환경에서 성능·운영성 평가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사용자 피드백과 연동 요구 반영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관문: 합의한 수용 기준 충족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331720"/>
            <a:ext cx="3575304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51176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800" b="1">
                <a:solidFill>
                  <a:srgbClr val="007F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000" b="1">
                <a:solidFill>
                  <a:srgbClr val="172F40"/>
                </a:solidFill>
                <a:latin typeface="Noto Sans CJK KR"/>
              </a:defRPr>
            </a:pPr>
            <a:r>
              <a:t>확장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13639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공통 소프트웨어 구성 정리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운영·유지관리 문서와 지원 체계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1400" b="0">
                <a:solidFill>
                  <a:srgbClr val="536777"/>
                </a:solidFill>
                <a:latin typeface="Noto Sans CJK KR"/>
              </a:defRPr>
            </a:pPr>
            <a:r>
              <a:t>관문: 반복 적용 가능성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제안 로드맵: 기능 추가보다 검증 근거와 적용 재현성의 축적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007F7B"/>
                </a:solidFill>
                <a:latin typeface="Noto Sans CJK KR"/>
              </a:defRPr>
            </a:pPr>
            <a:r>
              <a:t>22 / VALIDATION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10293C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D9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536777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536777"/>
                </a:solidFill>
                <a:latin typeface="Noto Sans CJK KR"/>
              </a:defRPr>
            </a:pPr>
            <a: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04672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2800" b="1">
                <a:solidFill>
                  <a:srgbClr val="172F40"/>
                </a:solidFill>
                <a:latin typeface="Noto Sans CJK KR"/>
              </a:defRPr>
            </a:pPr>
            <a:r>
              <a:t>투자 검토의 핵심은 기술의 현장 재현성입니다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500" b="0">
                <a:solidFill>
                  <a:srgbClr val="536777"/>
                </a:solidFill>
                <a:latin typeface="Noto Sans CJK KR"/>
              </a:defRPr>
            </a:pPr>
            <a:r>
              <a:t>보유 기술의 가치를 확인할 검증 항목을 명확히 제시합니다.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76856"/>
            <a:ext cx="2267712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933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276856"/>
            <a:ext cx="4389120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38658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확인할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2276856"/>
            <a:ext cx="4453128" cy="512064"/>
          </a:xfrm>
          <a:prstGeom prst="rect">
            <a:avLst/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86584"/>
            <a:ext cx="417880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50" b="1">
                <a:solidFill>
                  <a:srgbClr val="FFFFFF"/>
                </a:solidFill>
                <a:latin typeface="Noto Sans CJK KR"/>
              </a:defRPr>
            </a:pPr>
            <a:r>
              <a:t>판단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820924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전력·발전 성능평가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820924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9306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평가 보고서·조건별 계측 결과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2820924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2930652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원인 분석 근거와 측정 재현성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DFOS·AI 경계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3465576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57530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대표 환경 시험·이벤트 라벨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465576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3575304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탐지·오경보·운영 조건별 결과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10228"/>
            <a:ext cx="226771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9956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관제·시뮬레이션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4110228"/>
            <a:ext cx="43891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21995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구현 화면·시나리오·사용자 평가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4" y="4110228"/>
            <a:ext cx="4453128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4219956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업무 적합성·결과 설명·반복성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54880"/>
            <a:ext cx="2267712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8"/>
            <a:ext cx="19933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1">
                <a:solidFill>
                  <a:srgbClr val="007F7B"/>
                </a:solidFill>
                <a:latin typeface="Noto Sans CJK KR"/>
              </a:defRPr>
            </a:pPr>
            <a:r>
              <a:t>자체 개발·운영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4754880"/>
            <a:ext cx="4389120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4864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기술 문서·권리·보안 검토 자료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754880"/>
            <a:ext cx="4453128" cy="612648"/>
          </a:xfrm>
          <a:prstGeom prst="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4864608"/>
            <a:ext cx="41788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320" b="0">
                <a:solidFill>
                  <a:srgbClr val="172F40"/>
                </a:solidFill>
                <a:latin typeface="Noto Sans CJK KR"/>
              </a:defRPr>
            </a:pPr>
            <a:r>
              <a:t>개발 범위·유지관리·도입 적합성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96128"/>
            <a:ext cx="11109960" cy="539496"/>
          </a:xfrm>
          <a:prstGeom prst="roundRect">
            <a:avLst>
              <a:gd name="adj" fmla="val 8000"/>
            </a:avLst>
          </a:prstGeom>
          <a:solidFill>
            <a:srgbClr val="10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596128"/>
            <a:ext cx="54864" cy="539496"/>
          </a:xfrm>
          <a:prstGeom prst="rect">
            <a:avLst/>
          </a:prstGeom>
          <a:solidFill>
            <a:srgbClr val="00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3328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제공받지 않은 실적·인증·특허·성능 수치는 기재하지 않았습니다.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000" b="1">
                <a:solidFill>
                  <a:srgbClr val="C7EE78"/>
                </a:solidFill>
                <a:latin typeface="Noto Sans CJK KR"/>
              </a:defRPr>
            </a:pPr>
            <a:r>
              <a:t>23 / 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2103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UPTEC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11109960" cy="10972"/>
          </a:xfrm>
          <a:prstGeom prst="rect">
            <a:avLst/>
          </a:prstGeom>
          <a:solidFill>
            <a:srgbClr val="31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800" b="0">
                <a:solidFill>
                  <a:srgbClr val="9EB5C3"/>
                </a:solidFill>
                <a:latin typeface="Noto Sans CJK KR"/>
              </a:defRPr>
            </a:pPr>
            <a:r>
              <a:t>UPTEC   /   TECHNOLOGY &amp; BUSINESS   /  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900" b="0">
                <a:solidFill>
                  <a:srgbClr val="9EB5C3"/>
                </a:solidFill>
                <a:latin typeface="Noto Sans CJK KR"/>
              </a:defRPr>
            </a:pPr>
            <a:r>
              <a:t>24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914400"/>
            <a:ext cx="10972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3600" b="1">
                <a:solidFill>
                  <a:srgbClr val="FFFFFF"/>
                </a:solidFill>
                <a:latin typeface="Noto Sans CJK KR"/>
              </a:defRPr>
            </a:pPr>
            <a:r>
              <a:t>전력 기술의 깊이에서,</a:t>
            </a:r>
          </a:p>
          <a:p>
            <a:pPr>
              <a:lnSpc>
                <a:spcPct val="117000"/>
              </a:lnSpc>
              <a:spcAft>
                <a:spcPts val="1000"/>
              </a:spcAft>
              <a:defRPr sz="3600" b="1">
                <a:solidFill>
                  <a:srgbClr val="FFFFFF"/>
                </a:solidFill>
                <a:latin typeface="Noto Sans CJK KR"/>
              </a:defRPr>
            </a:pPr>
            <a:r>
              <a:t>지능형 현장의 확장으로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0662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600" b="0">
                <a:solidFill>
                  <a:srgbClr val="BBD1DC"/>
                </a:solidFill>
                <a:latin typeface="Noto Sans CJK KR"/>
              </a:defRPr>
            </a:pPr>
            <a:r>
              <a:t>주력 사업의 현장 이해를 바탕으로 AI 응용의 가치를 구체화합니다.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685032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1D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8404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200" b="1">
                <a:solidFill>
                  <a:srgbClr val="C7EE78"/>
                </a:solidFill>
                <a:latin typeface="Noto Sans CJK KR"/>
              </a:defRPr>
            </a:pPr>
            <a:r>
              <a:t>기술의 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KR"/>
              </a:defRPr>
            </a:pPr>
            <a:r>
              <a:t>전력전자 제어 전문성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3685032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1D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38404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200" b="1">
                <a:solidFill>
                  <a:srgbClr val="C7EE78"/>
                </a:solidFill>
                <a:latin typeface="Noto Sans CJK KR"/>
              </a:defRPr>
            </a:pPr>
            <a:r>
              <a:t>사업의 중심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KR"/>
              </a:defRPr>
            </a:pPr>
            <a:r>
              <a:t>신재생발전단지 성능평가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685032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1D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8404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200" b="1">
                <a:solidFill>
                  <a:srgbClr val="C7EE78"/>
                </a:solidFill>
                <a:latin typeface="Noto Sans CJK KR"/>
              </a:defRPr>
            </a:pPr>
            <a:r>
              <a:t>확장의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KR"/>
              </a:defRPr>
            </a:pPr>
            <a:r>
              <a:t>자체 DFOS·소프트웨어 +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4406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1000"/>
              </a:spcAft>
              <a:defRPr sz="1900" b="1">
                <a:solidFill>
                  <a:srgbClr val="FFFFFF"/>
                </a:solidFill>
                <a:latin typeface="Noto Sans CJK KR"/>
              </a:defRPr>
            </a:pPr>
            <a:r>
              <a:t>UPTEC  |  현장에 맞는 기술, 판단에 도움이 되는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업텍 IR | 전력전자 제어와 AI 기반 현장 지능화</dc:title>
  <dc:subject>기술·시장 가치 중심 IR</dc:subject>
  <dc:creator>UPTEC</dc:creator>
  <cp:keywords>전력전자,AI,신재생,성능평가,DFOS,경계,관제,시뮬레이션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